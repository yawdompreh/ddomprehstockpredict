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MarketPilot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ptos"/>
              </a:defRPr>
            </a:pPr>
            <a:r>
              <a:t>Institutional-Grade Equity Intelligence for Retail and SME Investors</a:t>
            </a:r>
          </a:p>
          <a:p>
            <a:pPr>
              <a:defRPr sz="2000">
                <a:latin typeface="Aptos"/>
              </a:defRPr>
            </a:pPr>
            <a:r>
              <a:t>Shareholder Presentation | March 2026</a:t>
            </a:r>
          </a:p>
          <a:p>
            <a:pPr>
              <a:defRPr sz="2000">
                <a:latin typeface="Aptos"/>
              </a:defRPr>
            </a:pPr>
            <a:r>
              <a:t>Executive Team</a:t>
            </a:r>
          </a:p>
          <a:p/>
          <a:p>
            <a:pPr>
              <a:defRPr i="1" sz="1600">
                <a:latin typeface="Aptos"/>
              </a:defRPr>
            </a:pPr>
            <a:r>
              <a:t>Visual: Stylized candlestick-plus-network hero image with subtle gradient background.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Investment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ptos"/>
              </a:defRPr>
            </a:pPr>
            <a:r>
              <a:t>Operational full-stack AI stock intelligence platform</a:t>
            </a:r>
          </a:p>
          <a:p>
            <a:pPr>
              <a:defRPr sz="2000">
                <a:latin typeface="Aptos"/>
              </a:defRPr>
            </a:pPr>
            <a:r>
              <a:t>Multi-factor model: technical + fundamentals + sentiment</a:t>
            </a:r>
          </a:p>
          <a:p>
            <a:pPr>
              <a:defRPr sz="2000">
                <a:latin typeface="Aptos"/>
              </a:defRPr>
            </a:pPr>
            <a:r>
              <a:t>Batch analysis supports 7+ tickers per run</a:t>
            </a:r>
          </a:p>
          <a:p>
            <a:pPr>
              <a:defRPr sz="2000">
                <a:latin typeface="Aptos"/>
              </a:defRPr>
            </a:pPr>
            <a:r>
              <a:t>Downloadable reports improve collaboration</a:t>
            </a:r>
          </a:p>
          <a:p>
            <a:pPr>
              <a:defRPr sz="2000">
                <a:latin typeface="Aptos"/>
              </a:defRPr>
            </a:pPr>
            <a:r>
              <a:t>Scalable architecture for commercialization</a:t>
            </a:r>
          </a:p>
          <a:p/>
          <a:p>
            <a:pPr>
              <a:defRPr i="1" sz="1600">
                <a:latin typeface="Aptos"/>
              </a:defRPr>
            </a:pPr>
            <a:r>
              <a:t>Visual: 5-card icon panel for key highlights.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Market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ptos"/>
              </a:defRPr>
            </a:pPr>
            <a:r>
              <a:t>Fragmented data across price, fundamentals, and sentiment</a:t>
            </a:r>
          </a:p>
          <a:p>
            <a:pPr>
              <a:defRPr sz="2000">
                <a:latin typeface="Aptos"/>
              </a:defRPr>
            </a:pPr>
            <a:r>
              <a:t>Manual analysis introduces latency and inconsistency</a:t>
            </a:r>
          </a:p>
          <a:p>
            <a:pPr>
              <a:defRPr sz="2000">
                <a:latin typeface="Aptos"/>
              </a:defRPr>
            </a:pPr>
            <a:r>
              <a:t>Volatile conditions reduce decision confidence</a:t>
            </a:r>
          </a:p>
          <a:p/>
          <a:p>
            <a:pPr>
              <a:defRPr i="1" sz="1600">
                <a:latin typeface="Aptos"/>
              </a:defRPr>
            </a:pPr>
            <a:r>
              <a:t>Visual: Before-state workflow showing disconnected tools and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Unified AI Decision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ptos"/>
              </a:defRPr>
            </a:pPr>
            <a:r>
              <a:t>Single workflow unifies market, financial, and sentiment signals</a:t>
            </a:r>
          </a:p>
          <a:p>
            <a:pPr>
              <a:defRPr sz="2000">
                <a:latin typeface="Aptos"/>
              </a:defRPr>
            </a:pPr>
            <a:r>
              <a:t>Recommendation output: Buy / Hold / Sell + confidence</a:t>
            </a:r>
          </a:p>
          <a:p>
            <a:pPr>
              <a:defRPr sz="2000">
                <a:latin typeface="Aptos"/>
              </a:defRPr>
            </a:pPr>
            <a:r>
              <a:t>Integrated charting and report generation</a:t>
            </a:r>
          </a:p>
          <a:p/>
          <a:p>
            <a:pPr>
              <a:defRPr i="1" sz="1600">
                <a:latin typeface="Aptos"/>
              </a:defRPr>
            </a:pPr>
            <a:r>
              <a:t>Visual: 4-step process flow (Input -&gt; Engine -&gt; Signal -&gt; Report).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Product Demonstration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ptos"/>
              </a:defRPr>
            </a:pPr>
            <a:r>
              <a:t>Multi-ticker dashboard</a:t>
            </a:r>
          </a:p>
          <a:p>
            <a:pPr>
              <a:defRPr sz="2000">
                <a:latin typeface="Aptos"/>
              </a:defRPr>
            </a:pPr>
            <a:r>
              <a:t>Signal summary cards with confidence</a:t>
            </a:r>
          </a:p>
          <a:p>
            <a:pPr>
              <a:defRPr sz="2000">
                <a:latin typeface="Aptos"/>
              </a:defRPr>
            </a:pPr>
            <a:r>
              <a:t>Interactive trend chart with SMA overlays</a:t>
            </a:r>
          </a:p>
          <a:p>
            <a:pPr>
              <a:defRPr sz="2000">
                <a:latin typeface="Aptos"/>
              </a:defRPr>
            </a:pPr>
            <a:r>
              <a:t>One-click JSON and Markdown report export</a:t>
            </a:r>
          </a:p>
          <a:p/>
          <a:p>
            <a:pPr>
              <a:defRPr i="1" sz="1600">
                <a:latin typeface="Aptos"/>
              </a:defRPr>
            </a:pPr>
            <a:r>
              <a:t>Visual: Annotated screenshot of product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Multi-Factor Intelligence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ptos"/>
              </a:defRPr>
            </a:pPr>
            <a:r>
              <a:t>Technical features: returns, volatility, RSI, MACD, SMA</a:t>
            </a:r>
          </a:p>
          <a:p>
            <a:pPr>
              <a:defRPr sz="2000">
                <a:latin typeface="Aptos"/>
              </a:defRPr>
            </a:pPr>
            <a:r>
              <a:t>Fundamentals scoring: growth, margin, leverage, valuation</a:t>
            </a:r>
          </a:p>
          <a:p>
            <a:pPr>
              <a:defRPr sz="2000">
                <a:latin typeface="Aptos"/>
              </a:defRPr>
            </a:pPr>
            <a:r>
              <a:t>Sentiment scoring from financial headlines</a:t>
            </a:r>
          </a:p>
          <a:p>
            <a:pPr>
              <a:defRPr sz="2000">
                <a:latin typeface="Aptos"/>
              </a:defRPr>
            </a:pPr>
            <a:r>
              <a:t>Composite weighted score drives recommendation</a:t>
            </a:r>
          </a:p>
          <a:p/>
          <a:p>
            <a:pPr>
              <a:defRPr i="1" sz="1600">
                <a:latin typeface="Aptos"/>
              </a:defRPr>
            </a:pPr>
            <a:r>
              <a:t>Visual: Layered architecture stack with weighted contribution labels.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Scalable Product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ptos"/>
              </a:defRPr>
            </a:pPr>
            <a:r>
              <a:t>FastAPI backend and Python quant engine</a:t>
            </a:r>
          </a:p>
          <a:p>
            <a:pPr>
              <a:defRPr sz="2000">
                <a:latin typeface="Aptos"/>
              </a:defRPr>
            </a:pPr>
            <a:r>
              <a:t>Responsive front end with interactive charts</a:t>
            </a:r>
          </a:p>
          <a:p>
            <a:pPr>
              <a:defRPr sz="2000">
                <a:latin typeface="Aptos"/>
              </a:defRPr>
            </a:pPr>
            <a:r>
              <a:t>Stateless APIs and container-ready design</a:t>
            </a:r>
          </a:p>
          <a:p/>
          <a:p>
            <a:pPr>
              <a:defRPr i="1" sz="1600">
                <a:latin typeface="Aptos"/>
              </a:defRPr>
            </a:pPr>
            <a:r>
              <a:t>Visual: System architecture diagram with module boundaries.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Market Opportunity and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ptos"/>
              </a:defRPr>
            </a:pPr>
            <a:r>
              <a:t>Target segments: retail, educators, independent advisors</a:t>
            </a:r>
          </a:p>
          <a:p>
            <a:pPr>
              <a:defRPr sz="2000">
                <a:latin typeface="Aptos"/>
              </a:defRPr>
            </a:pPr>
            <a:r>
              <a:t>Growing demand for explainable AI finance tooling</a:t>
            </a:r>
          </a:p>
          <a:p>
            <a:pPr>
              <a:defRPr sz="2000">
                <a:latin typeface="Aptos"/>
              </a:defRPr>
            </a:pPr>
            <a:r>
              <a:t>Subscription appetite rising for premium analytics</a:t>
            </a:r>
          </a:p>
          <a:p/>
          <a:p>
            <a:pPr>
              <a:defRPr i="1" sz="1600">
                <a:latin typeface="Aptos"/>
              </a:defRPr>
            </a:pPr>
            <a:r>
              <a:t>Visual: TAM/SAM/SOM funnel + persona cards.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ptos"/>
              </a:defRPr>
            </a:pPr>
            <a:r>
              <a:t>Free tier for acquisition</a:t>
            </a:r>
          </a:p>
          <a:p>
            <a:pPr>
              <a:defRPr sz="2000">
                <a:latin typeface="Aptos"/>
              </a:defRPr>
            </a:pPr>
            <a:r>
              <a:t>Pro subscription for advanced analytics</a:t>
            </a:r>
          </a:p>
          <a:p>
            <a:pPr>
              <a:defRPr sz="2000">
                <a:latin typeface="Aptos"/>
              </a:defRPr>
            </a:pPr>
            <a:r>
              <a:t>Team plan for collaboration and governance</a:t>
            </a:r>
          </a:p>
          <a:p>
            <a:pPr>
              <a:defRPr sz="2000">
                <a:latin typeface="Aptos"/>
              </a:defRPr>
            </a:pPr>
            <a:r>
              <a:t>API licensing for B2B integrations</a:t>
            </a:r>
          </a:p>
          <a:p/>
          <a:p>
            <a:pPr>
              <a:defRPr i="1" sz="1600">
                <a:latin typeface="Aptos"/>
              </a:defRPr>
            </a:pPr>
            <a:r>
              <a:t>Visual: Tiered monetization ladder with conversion path arrows.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ptos"/>
              </a:defRPr>
            </a:pPr>
            <a:r>
              <a:t>Phase 1: product-led growth and community channels</a:t>
            </a:r>
          </a:p>
          <a:p>
            <a:pPr>
              <a:defRPr sz="2000">
                <a:latin typeface="Aptos"/>
              </a:defRPr>
            </a:pPr>
            <a:r>
              <a:t>Phase 2: creator and education partnerships</a:t>
            </a:r>
          </a:p>
          <a:p>
            <a:pPr>
              <a:defRPr sz="2000">
                <a:latin typeface="Aptos"/>
              </a:defRPr>
            </a:pPr>
            <a:r>
              <a:t>Phase 3: B2B advisor and fintech integrations</a:t>
            </a:r>
          </a:p>
          <a:p/>
          <a:p>
            <a:pPr>
              <a:defRPr i="1" sz="1600">
                <a:latin typeface="Aptos"/>
              </a:defRPr>
            </a:pPr>
            <a:r>
              <a:t>Visual: Quarter-based GTM roadmap timeline.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Metrics That Define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ptos"/>
              </a:defRPr>
            </a:pPr>
            <a:r>
              <a:t>Product KPIs: WAU, analyses/user, download rate</a:t>
            </a:r>
          </a:p>
          <a:p>
            <a:pPr>
              <a:defRPr sz="2000">
                <a:latin typeface="Aptos"/>
              </a:defRPr>
            </a:pPr>
            <a:r>
              <a:t>Business KPIs: conversion, MRR, CAC payback, retention</a:t>
            </a:r>
          </a:p>
          <a:p>
            <a:pPr>
              <a:defRPr sz="2000">
                <a:latin typeface="Aptos"/>
              </a:defRPr>
            </a:pPr>
            <a:r>
              <a:t>Model KPIs: precision by segment, drift monitoring</a:t>
            </a:r>
          </a:p>
          <a:p/>
          <a:p>
            <a:pPr>
              <a:defRPr i="1" sz="1600">
                <a:latin typeface="Aptos"/>
              </a:defRPr>
            </a:pPr>
            <a:r>
              <a:t>Visual: Executive KPI cockpit with metric cards.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3-Year Illustrative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ptos"/>
              </a:defRPr>
            </a:pPr>
            <a:r>
              <a:t>Year 1: acquisition + product depth</a:t>
            </a:r>
          </a:p>
          <a:p>
            <a:pPr>
              <a:defRPr sz="2000">
                <a:latin typeface="Aptos"/>
              </a:defRPr>
            </a:pPr>
            <a:r>
              <a:t>Year 2: conversion + retention expansion</a:t>
            </a:r>
          </a:p>
          <a:p>
            <a:pPr>
              <a:defRPr sz="2000">
                <a:latin typeface="Aptos"/>
              </a:defRPr>
            </a:pPr>
            <a:r>
              <a:t>Year 3: API/team-plan acceleration</a:t>
            </a:r>
          </a:p>
          <a:p>
            <a:pPr>
              <a:defRPr sz="2000">
                <a:latin typeface="Aptos"/>
              </a:defRPr>
            </a:pPr>
            <a:r>
              <a:t>Operating leverage supports margin improvement</a:t>
            </a:r>
          </a:p>
          <a:p/>
          <a:p>
            <a:pPr>
              <a:defRPr i="1" sz="1600">
                <a:latin typeface="Aptos"/>
              </a:defRPr>
            </a:pPr>
            <a:r>
              <a:t>Visual: Revenue line + margin bars (illustrative).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Risk Management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ptos"/>
              </a:defRPr>
            </a:pPr>
            <a:r>
              <a:t>Model performance risk by market regime</a:t>
            </a:r>
          </a:p>
          <a:p>
            <a:pPr>
              <a:defRPr sz="2000">
                <a:latin typeface="Aptos"/>
              </a:defRPr>
            </a:pPr>
            <a:r>
              <a:t>Data-source reliability and continuity risk</a:t>
            </a:r>
          </a:p>
          <a:p>
            <a:pPr>
              <a:defRPr sz="2000">
                <a:latin typeface="Aptos"/>
              </a:defRPr>
            </a:pPr>
            <a:r>
              <a:t>Regulatory and compliance evolution</a:t>
            </a:r>
          </a:p>
          <a:p>
            <a:pPr>
              <a:defRPr sz="2000">
                <a:latin typeface="Aptos"/>
              </a:defRPr>
            </a:pPr>
            <a:r>
              <a:t>Mitigation: monitoring, redundancy, governance</a:t>
            </a:r>
          </a:p>
          <a:p/>
          <a:p>
            <a:pPr>
              <a:defRPr i="1" sz="1600">
                <a:latin typeface="Aptos"/>
              </a:defRPr>
            </a:pPr>
            <a:r>
              <a:t>Visual: 2x2 risk matrix with mitigation tags.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Roadmap and Near-Term Catalysts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ptos"/>
              </a:defRPr>
            </a:pPr>
            <a:r>
              <a:t>Next 2Q: ranking, PDF exports, auth, analysis history</a:t>
            </a:r>
          </a:p>
          <a:p>
            <a:pPr>
              <a:defRPr sz="2000">
                <a:latin typeface="Aptos"/>
              </a:defRPr>
            </a:pPr>
            <a:r>
              <a:t>12M: deep learning variants, integrations, enterprise controls</a:t>
            </a:r>
          </a:p>
          <a:p/>
          <a:p>
            <a:pPr>
              <a:defRPr i="1" sz="1600">
                <a:latin typeface="Aptos"/>
              </a:defRPr>
            </a:pPr>
            <a:r>
              <a:t>Visual: Now/Next/Later roadmap swimlane.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Capital Use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ptos"/>
              </a:defRPr>
            </a:pPr>
            <a:r>
              <a:t>40% Product and AI engineering</a:t>
            </a:r>
          </a:p>
          <a:p>
            <a:pPr>
              <a:defRPr sz="2000">
                <a:latin typeface="Aptos"/>
              </a:defRPr>
            </a:pPr>
            <a:r>
              <a:t>25% Growth and partnerships</a:t>
            </a:r>
          </a:p>
          <a:p>
            <a:pPr>
              <a:defRPr sz="2000">
                <a:latin typeface="Aptos"/>
              </a:defRPr>
            </a:pPr>
            <a:r>
              <a:t>20% Data and infrastructure resilience</a:t>
            </a:r>
          </a:p>
          <a:p>
            <a:pPr>
              <a:defRPr sz="2000">
                <a:latin typeface="Aptos"/>
              </a:defRPr>
            </a:pPr>
            <a:r>
              <a:t>15% Governance and operations</a:t>
            </a:r>
          </a:p>
          <a:p/>
          <a:p>
            <a:pPr>
              <a:defRPr i="1" sz="1600">
                <a:latin typeface="Aptos"/>
              </a:defRPr>
            </a:pPr>
            <a:r>
              <a:t>Visual: Allocation donut with outcome callouts.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latin typeface="Aptos Display"/>
              </a:defRPr>
            </a:pPr>
            <a:r>
              <a:t>Shareholder Ask and Commitments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Aptos"/>
              </a:defRPr>
            </a:pPr>
            <a:r>
              <a:t>Support roadmap execution and strategic introductions</a:t>
            </a:r>
          </a:p>
          <a:p>
            <a:pPr>
              <a:defRPr sz="2000">
                <a:latin typeface="Aptos"/>
              </a:defRPr>
            </a:pPr>
            <a:r>
              <a:t>Expand with discipline tied to quality and retention</a:t>
            </a:r>
          </a:p>
          <a:p>
            <a:pPr>
              <a:defRPr sz="2000">
                <a:latin typeface="Aptos"/>
              </a:defRPr>
            </a:pPr>
            <a:r>
              <a:t>Commit to transparent KPI reporting and governance</a:t>
            </a:r>
          </a:p>
          <a:p/>
          <a:p>
            <a:pPr>
              <a:defRPr i="1" sz="1600">
                <a:latin typeface="Aptos"/>
              </a:defRPr>
            </a:pPr>
            <a:r>
              <a:t>Visual: Closing trust-and-growth statement card with contact footer.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